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Weather Forecasting U-Net</a:t>
            </a:r>
          </a:p>
        </p:txBody>
      </p:sp>
      <p:sp>
        <p:nvSpPr>
          <p:cNvPr id="3" name="Subtitle 2"/>
          <p:cNvSpPr>
            <a:spLocks noGrp="1"/>
          </p:cNvSpPr>
          <p:nvPr>
            <p:ph type="subTitle" idx="1"/>
          </p:nvPr>
        </p:nvSpPr>
        <p:spPr/>
        <p:txBody>
          <a:bodyPr/>
          <a:lstStyle/>
          <a:p>
            <a:r>
              <a:t>Comprehensive Codebase Walkthrough</a:t>
            </a:r>
          </a:p>
          <a:p>
            <a:r>
              <a:t>Architecture and Helper Functions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5400">
                <a:latin typeface="Helvetica Neue"/>
              </a:rPr>
              <a:t>PROJECT BACKGROUND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600">
                <a:latin typeface="Helvetica Neue"/>
              </a:rPr>
              <a:t>THE STANFORD PAPER:</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1000"/>
              </a:spcAft>
            </a:pPr>
            <a:r>
              <a:rPr b="1" i="1" sz="1400">
                <a:latin typeface="Helvetica Neue"/>
              </a:rPr>
              <a:t>Title:
</a:t>
            </a:r>
            <a:r>
              <a:rPr sz="1400">
                <a:latin typeface="Helvetica Neue"/>
              </a:rPr>
              <a:t>Weather Forecasting UNET (Meza, Anderson, Tsultrim, 2024 - Stanford CS231n)</a:t>
            </a:r>
          </a:p>
          <a:p>
            <a:pPr>
              <a:spcAft>
                <a:spcPts val="1000"/>
              </a:spcAft>
            </a:pPr>
            <a:r>
              <a:rPr b="1" i="1" sz="1400">
                <a:latin typeface="Helvetica Neue"/>
              </a:rPr>
              <a:t>Problem Statement:
</a:t>
            </a:r>
            <a:r>
              <a:rPr sz="1400">
                <a:latin typeface="Helvetica Neue"/>
              </a:rPr>
              <a:t>Traditional severe-weather machine learning often treats each grid point independently (e.g., logistic regression). Tornado risk, however, is inherently spatial. Weather fronts and synoptic patterns extend across massive regions.</a:t>
            </a:r>
          </a:p>
          <a:p>
            <a:pPr>
              <a:spcAft>
                <a:spcPts val="1000"/>
              </a:spcAft>
            </a:pPr>
            <a:r>
              <a:rPr b="1" i="1" sz="1400">
                <a:latin typeface="Helvetica Neue"/>
              </a:rPr>
              <a:t>The Solution:
</a:t>
            </a:r>
            <a:r>
              <a:rPr sz="1400">
                <a:latin typeface="Helvetica Neue"/>
              </a:rPr>
              <a:t>A U-Net captures these spatial dependencies via convolutions and skip connections, allowing it to "see" the surrounding regional weather patterns rather than just isolated pixels.</a:t>
            </a:r>
          </a:p>
          <a:p>
            <a:pPr>
              <a:spcAft>
                <a:spcPts val="1000"/>
              </a:spcAft>
            </a:pPr>
            <a:r>
              <a:rPr b="1" i="1" sz="1400">
                <a:latin typeface="Helvetica Neue"/>
              </a:rPr>
              <a:t>Input Features:
</a:t>
            </a:r>
            <a:r>
              <a:rPr sz="1400">
                <a:latin typeface="Helvetica Neue"/>
              </a:rPr>
              <a:t>3-Channel Geospatial Grids (256x256): CAPE (Convective Available Potential Energy), CIN (Convective Inhibition), and Tropopause Geopotential Height.</a:t>
            </a:r>
          </a:p>
          <a:p>
            <a:pPr>
              <a:spcAft>
                <a:spcPts val="1000"/>
              </a:spcAft>
            </a:pPr>
            <a:r>
              <a:rPr b="1" i="1" sz="1400">
                <a:latin typeface="Helvetica Neue"/>
              </a:rPr>
              <a:t>Target Outputs:
</a:t>
            </a:r>
            <a:r>
              <a:rPr sz="1400">
                <a:latin typeface="Helvetica Neue"/>
              </a:rPr>
              <a:t>2-Channel Probability Maps (256x256): Probability of ANY tornado within ~25 miles, and probability of a SIGNIFICANT (EF2+) tornado.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600">
                <a:latin typeface="Helvetica Neue"/>
              </a:rPr>
              <a:t>PROJECT DELIVERABLES:</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1000"/>
              </a:spcAft>
            </a:pPr>
            <a:r>
              <a:rPr b="1" i="1" sz="1400">
                <a:latin typeface="Helvetica Neue"/>
              </a:rPr>
              <a:t>1. Data Preprocessing Pipeline:
</a:t>
            </a:r>
            <a:r>
              <a:rPr sz="1400">
                <a:latin typeface="Helvetica Neue"/>
              </a:rPr>
              <a:t>A robust script (preprocess.py) to ingest, synchronize, and resize massive global NetCDF weather files into aligned NumPy tensors.</a:t>
            </a:r>
          </a:p>
          <a:p>
            <a:pPr>
              <a:spcAft>
                <a:spcPts val="1000"/>
              </a:spcAft>
            </a:pPr>
            <a:r>
              <a:rPr b="1" i="1" sz="1400">
                <a:latin typeface="Helvetica Neue"/>
              </a:rPr>
              <a:t>2. Custom PyTorch Dataset:
</a:t>
            </a:r>
            <a:r>
              <a:rPr sz="1400">
                <a:latin typeface="Helvetica Neue"/>
              </a:rPr>
              <a:t>An optimized DataLoader interface (NOAA_dataset.py) that performs on-the-fly normalization and tensor stacking.</a:t>
            </a:r>
          </a:p>
          <a:p>
            <a:pPr>
              <a:spcAft>
                <a:spcPts val="1000"/>
              </a:spcAft>
            </a:pPr>
            <a:r>
              <a:rPr b="1" i="1" sz="1400">
                <a:latin typeface="Helvetica Neue"/>
              </a:rPr>
              <a:t>3. U-Net Neural Network:
</a:t>
            </a:r>
            <a:r>
              <a:rPr sz="1400">
                <a:latin typeface="Helvetica Neue"/>
              </a:rPr>
              <a:t>A fully functional PyTorch U-Net architecture implemented from scratch (unet.py, unet_parts.py).</a:t>
            </a:r>
          </a:p>
          <a:p>
            <a:pPr>
              <a:spcAft>
                <a:spcPts val="1000"/>
              </a:spcAft>
            </a:pPr>
            <a:r>
              <a:rPr b="1" i="1" sz="1400">
                <a:latin typeface="Helvetica Neue"/>
              </a:rPr>
              <a:t>4. Custom Training Loop:
</a:t>
            </a:r>
            <a:r>
              <a:rPr sz="1400">
                <a:latin typeface="Helvetica Neue"/>
              </a:rPr>
              <a:t>A training pipeline (main.py) featuring Adam optimization, heavily-weighted BCE Loss for extreme class imbalance, and KL Divergence validation metrics.</a:t>
            </a:r>
          </a:p>
          <a:p>
            <a:pPr>
              <a:spcAft>
                <a:spcPts val="1000"/>
              </a:spcAft>
            </a:pPr>
            <a:r>
              <a:rPr b="1" i="1" sz="1400">
                <a:latin typeface="Helvetica Neue"/>
              </a:rPr>
              <a:t>5. Inference &amp; Visualization:
</a:t>
            </a:r>
            <a:r>
              <a:rPr sz="1400">
                <a:latin typeface="Helvetica Neue"/>
              </a:rPr>
              <a:t>A complete evaluation suite (inference.py) that overlays network predictions onto geographic maps using official NOAA SPC colormaps.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5400">
                <a:latin typeface="Helvetica Neue"/>
              </a:rPr>
              <a:t>PROJECT ARCHITECTURE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600">
                <a:latin typeface="Helvetica Neue"/>
              </a:rPr>
              <a:t>CODEBASE OVERVIEW:</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1000"/>
              </a:spcAft>
            </a:pPr>
            <a:r>
              <a:rPr sz="1400">
                <a:latin typeface="Helvetica Neue"/>
              </a:rPr>
              <a:t>The project is a PyTorch implementation of a U-Net for spatial tornado probability forecasting over the contiguous United States (CONUS).</a:t>
            </a:r>
          </a:p>
          <a:p>
            <a:pPr>
              <a:spcAft>
                <a:spcPts val="1000"/>
              </a:spcAft>
            </a:pPr>
            <a:r>
              <a:rPr b="1" i="1" sz="1400">
                <a:latin typeface="Helvetica Neue"/>
              </a:rPr>
              <a:t>1. preprocess.py:
</a:t>
            </a:r>
            <a:r>
              <a:rPr sz="1400">
                <a:latin typeface="Helvetica Neue"/>
              </a:rPr>
              <a:t>Converts raw NetCDF NOAA data (CAPE, CIN, HGT) and Gensini target probabilities into aligned 256x256 NumPy arrays.</a:t>
            </a:r>
          </a:p>
          <a:p>
            <a:pPr>
              <a:spcAft>
                <a:spcPts val="1000"/>
              </a:spcAft>
            </a:pPr>
            <a:r>
              <a:rPr b="1" i="1" sz="1400">
                <a:latin typeface="Helvetica Neue"/>
              </a:rPr>
              <a:t>2. NOAA_dataset.py:
</a:t>
            </a:r>
            <a:r>
              <a:rPr sz="1400">
                <a:latin typeface="Helvetica Neue"/>
              </a:rPr>
              <a:t>A custom PyTorch Dataset that loads the preprocessed numpy arrays, handles missing values, and normalizes the data on the fly.</a:t>
            </a:r>
          </a:p>
          <a:p>
            <a:pPr>
              <a:spcAft>
                <a:spcPts val="1000"/>
              </a:spcAft>
            </a:pPr>
            <a:r>
              <a:rPr b="1" i="1" sz="1400">
                <a:latin typeface="Helvetica Neue"/>
              </a:rPr>
              <a:t>3. unet_parts.py &amp; unet.py:
</a:t>
            </a:r>
            <a:r>
              <a:rPr sz="1400">
                <a:latin typeface="Helvetica Neue"/>
              </a:rPr>
              <a:t>Defines the U-Net neural network architecture using reusable blocks (DoubleConv, DownSample, UpSample).</a:t>
            </a:r>
          </a:p>
          <a:p>
            <a:pPr>
              <a:spcAft>
                <a:spcPts val="1000"/>
              </a:spcAft>
            </a:pPr>
            <a:r>
              <a:rPr b="1" i="1" sz="1400">
                <a:latin typeface="Helvetica Neue"/>
              </a:rPr>
              <a:t>4. main.py:
</a:t>
            </a:r>
            <a:r>
              <a:rPr sz="1400">
                <a:latin typeface="Helvetica Neue"/>
              </a:rPr>
              <a:t>Executes the core training and validation loops, utilizing Adam optimizer, Weighted BCE Loss, and KL Divergence for evaluation.</a:t>
            </a:r>
          </a:p>
          <a:p>
            <a:pPr>
              <a:spcAft>
                <a:spcPts val="1000"/>
              </a:spcAft>
            </a:pPr>
            <a:r>
              <a:rPr b="1" i="1" sz="1400">
                <a:latin typeface="Helvetica Neue"/>
              </a:rPr>
              <a:t>5. inference.py:
</a:t>
            </a:r>
            <a:r>
              <a:rPr sz="1400">
                <a:latin typeface="Helvetica Neue"/>
              </a:rPr>
              <a:t>Loads the trained model weights and generates visual probability heatmaps comparing predictions against ground truth.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5400">
                <a:latin typeface="Helvetica Neue"/>
              </a:rPr>
              <a:t>PREPROCESS.PY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600">
                <a:latin typeface="Helvetica Neue"/>
              </a:rPr>
              <a:t>ARCHITECTURE:</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1000"/>
              </a:spcAft>
            </a:pPr>
            <a:r>
              <a:rPr b="1" i="1" sz="1400">
                <a:latin typeface="Helvetica Neue"/>
              </a:rPr>
              <a:t>Phase 1: Preparation
</a:t>
            </a:r>
            <a:r>
              <a:rPr sz="1400">
                <a:latin typeface="Helvetica Neue"/>
              </a:rPr>
              <a:t>Initializes directories. Uses xarray to open 5 massive raw .nc files, forces all time formats to standard datetime64, and isolates the year 2014. Auto-detects variable names inside the datasets.</a:t>
            </a:r>
          </a:p>
          <a:p>
            <a:pPr>
              <a:spcAft>
                <a:spcPts val="1000"/>
              </a:spcAft>
            </a:pPr>
            <a:r>
              <a:rPr b="1" i="1" sz="1400">
                <a:latin typeface="Helvetica Neue"/>
              </a:rPr>
              <a:t>Phase 2: Synchronization
</a:t>
            </a:r>
            <a:r>
              <a:rPr sz="1400">
                <a:latin typeface="Helvetica Neue"/>
              </a:rPr>
              <a:t>Extracts the lists of days from all 5 files and cross-references them using np.intersect1d. Throws away any day that doesn't exist perfectly across all 5 files to ensure the neural network never crashes due to missing data.</a:t>
            </a:r>
          </a:p>
          <a:p>
            <a:pPr>
              <a:spcAft>
                <a:spcPts val="1000"/>
              </a:spcAft>
            </a:pPr>
            <a:r>
              <a:rPr b="1" i="1" sz="1400">
                <a:latin typeface="Helvetica Neue"/>
              </a:rPr>
              <a:t>Phase 3: Day-by-Day Processing Loop
</a:t>
            </a:r>
            <a:r>
              <a:rPr sz="1400">
                <a:latin typeface="Helvetica Neue"/>
              </a:rPr>
              <a:t>Loops through every aligned day. Slices out the flat 2D grids, cleans missing values (NaN to 0.0), resizes grids of different sizes to exactly 256x256 using PyTorch bilinear interpolation, and saves them as .npy files.</a:t>
            </a:r>
          </a:p>
          <a:p>
            <a:pPr>
              <a:spcAft>
                <a:spcPts val="1000"/>
              </a:spcAft>
            </a:pPr>
            <a:r>
              <a:rPr b="1" i="1" sz="1400">
                <a:latin typeface="Helvetica Neue"/>
              </a:rPr>
              <a:t>Phase 4: Completion
</a:t>
            </a:r>
            <a:r>
              <a:rPr sz="1400">
                <a:latin typeface="Helvetica Neue"/>
              </a:rPr>
              <a:t>Prints a final report detailing exactly how many days succeeded and detailing errors for skipped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600">
                <a:latin typeface="Helvetica Neue"/>
              </a:rPr>
              <a:t>HELPER FUNCTION</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1000"/>
              </a:spcAft>
            </a:pPr>
            <a:r>
              <a:rPr b="1" i="1" sz="1400">
                <a:latin typeface="Helvetica Neue"/>
              </a:rPr>
              <a:t>def create_folders():
</a:t>
            </a:r>
            <a:r>
              <a:rPr sz="1400">
                <a:latin typeface="Helvetica Neue"/>
              </a:rPr>
              <a:t>What it does: Scaffolds the required directory structure on your hard drive.
Why we need it: Ensures folders exist before saving thousands of files to prevent crashes.</a:t>
            </a:r>
          </a:p>
          <a:p>
            <a:pPr>
              <a:spcAft>
                <a:spcPts val="1000"/>
              </a:spcAft>
            </a:pPr>
            <a:r>
              <a:rPr b="1" i="1" sz="1400">
                <a:latin typeface="Helvetica Neue"/>
              </a:rPr>
              <a:t>def resize_grid(matrix_2d):
</a:t>
            </a:r>
            <a:r>
              <a:rPr sz="1400">
                <a:latin typeface="Helvetica Neue"/>
              </a:rPr>
              <a:t>What it does: Cleans NaN values and uses PyTorch bilinear interpolation to squish/stretch maps to 256x256.
Why we need it: The U-Net strictly requires 256x256 inputs.</a:t>
            </a:r>
          </a:p>
          <a:p>
            <a:pPr>
              <a:spcAft>
                <a:spcPts val="1000"/>
              </a:spcAft>
            </a:pPr>
            <a:r>
              <a:rPr b="1" i="1" sz="1400">
                <a:latin typeface="Helvetica Neue"/>
              </a:rPr>
              <a:t>def get_variable(ds):
</a:t>
            </a:r>
            <a:r>
              <a:rPr sz="1400">
                <a:latin typeface="Helvetica Neue"/>
              </a:rPr>
              <a:t>What it does: Scans internal NetCDF metadata to auto-detect the core data array name.
Why we need it: Prevents manual hardcoding of variable names for different NOAA datasets.</a:t>
            </a:r>
          </a:p>
          <a:p>
            <a:pPr>
              <a:spcAft>
                <a:spcPts val="1000"/>
              </a:spcAft>
            </a:pPr>
            <a:r>
              <a:rPr b="1" i="1" sz="1400">
                <a:latin typeface="Helvetica Neue"/>
              </a:rPr>
              <a:t>def extract_2d(da, date):
</a:t>
            </a:r>
            <a:r>
              <a:rPr sz="1400">
                <a:latin typeface="Helvetica Neue"/>
              </a:rPr>
              <a:t>What it does: Slices out a specific date and strips away unnecessary altitude or ensemble dimensions.
Why we need it: U-Net requires flat 2D maps, but raw files often contain 3D/4D stacked data.</a:t>
            </a:r>
          </a:p>
          <a:p>
            <a:pPr>
              <a:spcAft>
                <a:spcPts val="1000"/>
              </a:spcAft>
            </a:pPr>
            <a:r>
              <a:rPr b="1" i="1" sz="1400">
                <a:latin typeface="Helvetica Neue"/>
              </a:rPr>
              <a:t>def save_validated(arr, path, label):
</a:t>
            </a:r>
            <a:r>
              <a:rPr sz="1400">
                <a:latin typeface="Helvetica Neue"/>
              </a:rPr>
              <a:t>What it does: Resizes the map, strictly verifies the shape is 256x256, and saves as .npy.
Why we need it: Final safety checkpoint to prevent saving broken files that would ruin 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5400">
                <a:latin typeface="Helvetica Neue"/>
              </a:rPr>
              <a:t>NOAA_DATASET.PY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600">
                <a:latin typeface="Helvetica Neue"/>
              </a:rPr>
              <a:t>ARCHITECTURE &amp; FUNCTIONS:</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1000"/>
              </a:spcAft>
            </a:pPr>
            <a:r>
              <a:rPr b="1" i="1" sz="1400">
                <a:latin typeface="Helvetica Neue"/>
              </a:rPr>
              <a:t>def __init__(self, root_path, test=False, file_list=None):
</a:t>
            </a:r>
            <a:r>
              <a:rPr sz="1400">
                <a:latin typeface="Helvetica Neue"/>
              </a:rPr>
              <a:t>What it does: Initializes the dataset by constructing absolute file paths to all 5 data channels (cape, cin, geo, tor, sigtor). It performs strict assertion checks to ensure all channels have the exact same number of files.
Why we need it: Prepares the dataset state and prevents training on misaligned or missing data.</a:t>
            </a:r>
          </a:p>
          <a:p>
            <a:pPr>
              <a:spcAft>
                <a:spcPts val="1000"/>
              </a:spcAft>
            </a:pPr>
            <a:r>
              <a:rPr b="1" i="1" sz="1400">
                <a:latin typeface="Helvetica Neue"/>
              </a:rPr>
              <a:t>def __len__(self):
</a:t>
            </a:r>
            <a:r>
              <a:rPr sz="1400">
                <a:latin typeface="Helvetica Neue"/>
              </a:rPr>
              <a:t>What it does: Returns the total number of files in the dataset.
Why we need it: Required by PyTorch DataLoader to know how many batches it can create.</a:t>
            </a:r>
          </a:p>
          <a:p>
            <a:pPr>
              <a:spcAft>
                <a:spcPts val="1000"/>
              </a:spcAft>
            </a:pPr>
            <a:r>
              <a:rPr b="1" i="1" sz="1400">
                <a:latin typeface="Helvetica Neue"/>
              </a:rPr>
              <a:t>def __getitem__(self, index):
</a:t>
            </a:r>
            <a:r>
              <a:rPr sz="1400">
                <a:latin typeface="Helvetica Neue"/>
              </a:rPr>
              <a:t>What it does: Loads the .npy files for a given index. Replaces NaN/inf values with 0.0 using np.nan_to_num. Stacks inputs into a [3, 256, 256] tensor and targets into a [2, 256, 256] tensor. Performs per-channel absolute-max normalization to scale features between [-1.0, 1.0]. Clamps target labels to [0, 1].
Why we need it: This is the core pipeline that feeds clean, normalized, ready-to-train tensors into the neural network during every step of training.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5400">
                <a:latin typeface="Helvetica Neue"/>
              </a:rPr>
              <a:t>UNET.PY &amp; UNET_PARTS.PY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600">
                <a:latin typeface="Helvetica Neue"/>
              </a:rPr>
              <a:t>ARCHITECTURE &amp; HELPER CLASSES:</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1000"/>
              </a:spcAft>
            </a:pPr>
            <a:r>
              <a:rPr b="1" i="1" sz="1400">
                <a:latin typeface="Helvetica Neue"/>
              </a:rPr>
              <a:t>class DoubleConv(nn.Module):
</a:t>
            </a:r>
            <a:r>
              <a:rPr sz="1400">
                <a:latin typeface="Helvetica Neue"/>
              </a:rPr>
              <a:t>What it does: Two sequential 3x3 convolutions, each followed by BatchNorm2d and a ReLU activation.
Why we need it: The foundational feature-extraction block of the network.</a:t>
            </a:r>
          </a:p>
          <a:p>
            <a:pPr>
              <a:spcAft>
                <a:spcPts val="1000"/>
              </a:spcAft>
            </a:pPr>
            <a:r>
              <a:rPr b="1" i="1" sz="1400">
                <a:latin typeface="Helvetica Neue"/>
              </a:rPr>
              <a:t>class DownSample(nn.Module):
</a:t>
            </a:r>
            <a:r>
              <a:rPr sz="1400">
                <a:latin typeface="Helvetica Neue"/>
              </a:rPr>
              <a:t>What it does: Applies a DoubleConv and then a 2x2 MaxPool2d to halve the spatial dimensions.
Why we need it: Used in the encoder to extract deep, abstract meteorological features while reducing computational load.</a:t>
            </a:r>
          </a:p>
          <a:p>
            <a:pPr>
              <a:spcAft>
                <a:spcPts val="1000"/>
              </a:spcAft>
            </a:pPr>
            <a:r>
              <a:rPr b="1" i="1" sz="1400">
                <a:latin typeface="Helvetica Neue"/>
              </a:rPr>
              <a:t>class UpSample(nn.Module):
</a:t>
            </a:r>
            <a:r>
              <a:rPr sz="1400">
                <a:latin typeface="Helvetica Neue"/>
              </a:rPr>
              <a:t>What it does: Applies a ConvTranspose2d to double spatial dimensions, calculates spatial differences, pads the upsampled tensor to perfectly match the encoder's skip connection, concatenates them, and applies a DoubleConv.
Why we need it: Used in the decoder to restore high-resolution spatial boundaries and merge them with abstract features.</a:t>
            </a:r>
          </a:p>
          <a:p>
            <a:pPr>
              <a:spcAft>
                <a:spcPts val="1000"/>
              </a:spcAft>
            </a:pPr>
            <a:r>
              <a:rPr b="1" i="1" sz="1400">
                <a:latin typeface="Helvetica Neue"/>
              </a:rPr>
              <a:t>class UNet(nn.Module):
</a:t>
            </a:r>
            <a:r>
              <a:rPr sz="1400">
                <a:latin typeface="Helvetica Neue"/>
              </a:rPr>
              <a:t>What it does: The master assembly. Chains 4 DownSample blocks into a 1024-channel bottleneck, followed by 4 UpSample blocks. Ends with a 1x1 convolution mapping to 2 target classes (logits).
Why we need it: This is the complete neural network that maps raw weather inputs to tornado probability maps.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5400">
                <a:latin typeface="Helvetica Neue"/>
              </a:rPr>
              <a:t>MAIN.PY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600">
                <a:latin typeface="Helvetica Neue"/>
              </a:rPr>
              <a:t>ARCHITECTURE:</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1000"/>
              </a:spcAft>
            </a:pPr>
            <a:r>
              <a:rPr b="1" i="1" sz="1400">
                <a:latin typeface="Helvetica Neue"/>
              </a:rPr>
              <a:t>Phase 1: Setup &amp; Data Splitting
</a:t>
            </a:r>
            <a:r>
              <a:rPr sz="1400">
                <a:latin typeface="Helvetica Neue"/>
              </a:rPr>
              <a:t>Sets hyperparameters (BATCH_SIZE=8, EPOCHS=50). Performs a strict chronological 80/20 split (Jan-Aug for Train, Sep-Oct for Val) to perfectly prevent future data leakage. Initializes DataLoaders.</a:t>
            </a:r>
          </a:p>
          <a:p>
            <a:pPr>
              <a:spcAft>
                <a:spcPts val="1000"/>
              </a:spcAft>
            </a:pPr>
            <a:r>
              <a:rPr b="1" i="1" sz="1400">
                <a:latin typeface="Helvetica Neue"/>
              </a:rPr>
              <a:t>Phase 2: Model &amp; Loss Initialization
</a:t>
            </a:r>
            <a:r>
              <a:rPr sz="1400">
                <a:latin typeface="Helvetica Neue"/>
              </a:rPr>
              <a:t>Loads the U-Net onto the GPU. Initializes Adam optimizer. Sets up BCEWithLogitsLoss with a pos_weight of [5.0, 10.0] to heavily penalize missing extremely rare tornado pixels.</a:t>
            </a:r>
          </a:p>
          <a:p>
            <a:pPr>
              <a:spcAft>
                <a:spcPts val="1000"/>
              </a:spcAft>
            </a:pPr>
            <a:r>
              <a:rPr b="1" i="1" sz="1400">
                <a:latin typeface="Helvetica Neue"/>
              </a:rPr>
              <a:t>Phase 3: The Training Loop
</a:t>
            </a:r>
            <a:r>
              <a:rPr sz="1400">
                <a:latin typeface="Helvetica Neue"/>
              </a:rPr>
              <a:t>For each batch, the model makes a guess (logits). It calculates KL Divergence loss. loss.backward() computes gradients, and optimizer.step() updates weights to make the model smarter.</a:t>
            </a:r>
          </a:p>
          <a:p>
            <a:pPr>
              <a:spcAft>
                <a:spcPts val="1000"/>
              </a:spcAft>
            </a:pPr>
            <a:r>
              <a:rPr b="1" i="1" sz="1400">
                <a:latin typeface="Helvetica Neue"/>
              </a:rPr>
              <a:t>Phase 4: The Validation Loop
</a:t>
            </a:r>
            <a:r>
              <a:rPr sz="1400">
                <a:latin typeface="Helvetica Neue"/>
              </a:rPr>
              <a:t>The model is set to eval() mode (no gradients). It predicts on unseen validation days. Calculates and reports BCE, KL Divergence, and Mean Absolute Error (MAE).</a:t>
            </a:r>
          </a:p>
          <a:p>
            <a:pPr>
              <a:spcAft>
                <a:spcPts val="1000"/>
              </a:spcAft>
            </a:pPr>
            <a:r>
              <a:rPr b="1" i="1" sz="1400">
                <a:latin typeface="Helvetica Neue"/>
              </a:rPr>
              <a:t>Phase 5: Save Model
</a:t>
            </a:r>
            <a:r>
              <a:rPr sz="1400">
                <a:latin typeface="Helvetica Neue"/>
              </a:rPr>
              <a:t>Saves the trained neural network weights to models/unet.pth.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600">
                <a:latin typeface="Helvetica Neue"/>
              </a:rPr>
              <a:t>HELPER FUNCTION</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1000"/>
              </a:spcAft>
            </a:pPr>
            <a:r>
              <a:rPr b="1" i="1" sz="1400">
                <a:latin typeface="Helvetica Neue"/>
              </a:rPr>
              <a:t>def bernoulli_entropy(p, eps=1e-7):
</a:t>
            </a:r>
            <a:r>
              <a:rPr sz="1400">
                <a:latin typeface="Helvetica Neue"/>
              </a:rPr>
              <a:t>What it does: Calculates the statistical entropy of the target labels.
Why we need it: Required as a component to mathematically calculate KL Divergence.</a:t>
            </a:r>
          </a:p>
          <a:p>
            <a:pPr>
              <a:spcAft>
                <a:spcPts val="1000"/>
              </a:spcAft>
            </a:pPr>
            <a:r>
              <a:rPr b="1" i="1" sz="1400">
                <a:latin typeface="Helvetica Neue"/>
              </a:rPr>
              <a:t>def kl_divergence_from_logits(logits, target, eps=1e-7):
</a:t>
            </a:r>
            <a:r>
              <a:rPr sz="1400">
                <a:latin typeface="Helvetica Neue"/>
              </a:rPr>
              <a:t>What it does: Calculates KL Divergence using the mathematical identity KL = BCE - Entropy. Uses raw logits to leverage the log-sum-exp trick.
Why we need it: Provides a mathematically stable, crash-proof loss function for backpropagation training.</a:t>
            </a:r>
          </a:p>
          <a:p>
            <a:pPr>
              <a:spcAft>
                <a:spcPts val="1000"/>
              </a:spcAft>
            </a:pPr>
            <a:r>
              <a:rPr b="1" i="1" sz="1400">
                <a:latin typeface="Helvetica Neue"/>
              </a:rPr>
              <a:t>def kl_divergence_from_probs(pred_probs, target, eps=1e-7):
</a:t>
            </a:r>
            <a:r>
              <a:rPr sz="1400">
                <a:latin typeface="Helvetica Neue"/>
              </a:rPr>
              <a:t>What it does: Calculates KL Divergence explicitly using sigmoid probabilities, clamping values to prevent log(0) crashes.
Why we need it: Used strictly for human-readable evaluation and reporting during validation.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5400">
                <a:latin typeface="Helvetica Neue"/>
              </a:rPr>
              <a:t>INFERENCE.PY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600">
                <a:latin typeface="Helvetica Neue"/>
              </a:rPr>
              <a:t>ARCHITECTURE:</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1000"/>
              </a:spcAft>
            </a:pPr>
            <a:r>
              <a:rPr b="1" i="1" sz="1400">
                <a:latin typeface="Helvetica Neue"/>
              </a:rPr>
              <a:t>Phase 1: Setup &amp; Model Loading
</a:t>
            </a:r>
            <a:r>
              <a:rPr sz="1400">
                <a:latin typeface="Helvetica Neue"/>
              </a:rPr>
              <a:t>Defines paths. Instantiates a blank U-Net and loads the trained unet.pth weights into it. Sets the model to evaluation mode (model.eval()).</a:t>
            </a:r>
          </a:p>
          <a:p>
            <a:pPr>
              <a:spcAft>
                <a:spcPts val="1000"/>
              </a:spcAft>
            </a:pPr>
            <a:r>
              <a:rPr b="1" i="1" sz="1400">
                <a:latin typeface="Helvetica Neue"/>
              </a:rPr>
              <a:t>Phase 2: Geographic Alignment
</a:t>
            </a:r>
            <a:r>
              <a:rPr sz="1400">
                <a:latin typeface="Helvetica Neue"/>
              </a:rPr>
              <a:t>Runs load_coordinates() to fetch exact Latitude/Longitude grids for all 256x256 pixels, enabling Cartopy to accurately draw state borders.</a:t>
            </a:r>
          </a:p>
          <a:p>
            <a:pPr>
              <a:spcAft>
                <a:spcPts val="1000"/>
              </a:spcAft>
            </a:pPr>
            <a:r>
              <a:rPr b="1" i="1" sz="1400">
                <a:latin typeface="Helvetica Neue"/>
              </a:rPr>
              <a:t>Phase 3: Prediction
</a:t>
            </a:r>
            <a:r>
              <a:rPr sz="1400">
                <a:latin typeface="Helvetica Neue"/>
              </a:rPr>
              <a:t>Loads specific days from the NOAATornadoDataset. Passes them through the model. Applies torch.sigmoid() to convert raw logits into strictly bounded 0.0 to 1.0 probability percentages.</a:t>
            </a:r>
          </a:p>
          <a:p>
            <a:pPr>
              <a:spcAft>
                <a:spcPts val="1000"/>
              </a:spcAft>
            </a:pPr>
            <a:r>
              <a:rPr b="1" i="1" sz="1400">
                <a:latin typeface="Helvetica Neue"/>
              </a:rPr>
              <a:t>Phase 4: Visualization
</a:t>
            </a:r>
            <a:r>
              <a:rPr sz="1400">
                <a:latin typeface="Helvetica Neue"/>
              </a:rPr>
              <a:t>Applies official NOAA Storm Prediction Center (SPC) custom colormaps. Uses matplotlib and cartopy to render multi-panel side-by-side heatmaps (Inputs vs Predictions vs Ground Truth). Saves final images.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600">
                <a:latin typeface="Helvetica Neue"/>
              </a:rPr>
              <a:t>HELPER FUNCTION</a:t>
            </a:r>
          </a:p>
        </p:txBody>
      </p:sp>
      <p:sp>
        <p:nvSpPr>
          <p:cNvPr id="3" name="TextBox 2"/>
          <p:cNvSpPr txBox="1"/>
          <p:nvPr/>
        </p:nvSpPr>
        <p:spPr>
          <a:xfrm>
            <a:off x="457200" y="1188720"/>
            <a:ext cx="8229600" cy="5303520"/>
          </a:xfrm>
          <a:prstGeom prst="rect">
            <a:avLst/>
          </a:prstGeom>
          <a:noFill/>
        </p:spPr>
        <p:txBody>
          <a:bodyPr wrap="square">
            <a:spAutoFit/>
          </a:bodyPr>
          <a:lstStyle/>
          <a:p>
            <a:pPr>
              <a:spcAft>
                <a:spcPts val="1000"/>
              </a:spcAft>
            </a:pPr>
            <a:r>
              <a:rPr b="1" i="1" sz="1400">
                <a:latin typeface="Helvetica Neue"/>
              </a:rPr>
              <a:t>def load_coordinates():
</a:t>
            </a:r>
            <a:r>
              <a:rPr sz="1400">
                <a:latin typeface="Helvetica Neue"/>
              </a:rPr>
              <a:t>What it does: Extracts lat/lon from raw .nc files, wraps longitudes to -180 to 180, and resizes to 256x256.
Why we need it: Allows plotting of accurate geographic state borders over the heatmaps.</a:t>
            </a:r>
          </a:p>
          <a:p>
            <a:pPr>
              <a:spcAft>
                <a:spcPts val="1000"/>
              </a:spcAft>
            </a:pPr>
            <a:r>
              <a:rPr b="1" i="1" sz="1400">
                <a:latin typeface="Helvetica Neue"/>
              </a:rPr>
              <a:t>def _prepare_input(x): &amp; def _to_numpy_chw(tensor):
</a:t>
            </a:r>
            <a:r>
              <a:rPr sz="1400">
                <a:latin typeface="Helvetica Neue"/>
              </a:rPr>
              <a:t>What they do: Safely add/remove artificial 'batch' dimensions from tensors, and move them between GPU memory and CPU NumPy arrays.
Why we need them: Bridges the strict shape requirements of PyTorch with the plotting requirements of matplotlib.</a:t>
            </a:r>
          </a:p>
          <a:p>
            <a:pPr>
              <a:spcAft>
                <a:spcPts val="1000"/>
              </a:spcAft>
            </a:pPr>
            <a:r>
              <a:rPr b="1" i="1" sz="1400">
                <a:latin typeface="Helvetica Neue"/>
              </a:rPr>
              <a:t>def single_sample_inference(...) &amp; def single_day_inference_from_npy(...):
</a:t>
            </a:r>
            <a:r>
              <a:rPr sz="1400">
                <a:latin typeface="Helvetica Neue"/>
              </a:rPr>
              <a:t>What they do: End-to-end visualization wrappers (one by index, one by specific filename).
Why we need them: Provides targeted, deep-dive visual evaluations of specific historic storm events.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5400">
                <a:latin typeface="Helvetica Neue"/>
              </a:rPr>
              <a:t>INFERENCE RESULTS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914400"/>
          </a:xfrm>
          <a:prstGeom prst="rect">
            <a:avLst/>
          </a:prstGeom>
          <a:noFill/>
        </p:spPr>
        <p:txBody>
          <a:bodyPr wrap="none">
            <a:spAutoFit/>
          </a:bodyPr>
          <a:lstStyle/>
          <a:p>
            <a:r>
              <a:rPr b="1" sz="3600">
                <a:solidFill>
                  <a:srgbClr val="003366"/>
                </a:solidFill>
                <a:latin typeface="Helvetica Neue"/>
              </a:rPr>
              <a:t>Visual Outputs: Probability Heatmaps</a:t>
            </a:r>
          </a:p>
        </p:txBody>
      </p:sp>
      <p:pic>
        <p:nvPicPr>
          <p:cNvPr id="3" name="Picture 2" descr="single_sample_0.png"/>
          <p:cNvPicPr>
            <a:picLocks noChangeAspect="1"/>
          </p:cNvPicPr>
          <p:nvPr/>
        </p:nvPicPr>
        <p:blipFill>
          <a:blip r:embed="rId2"/>
          <a:stretch>
            <a:fillRect/>
          </a:stretch>
        </p:blipFill>
        <p:spPr>
          <a:xfrm>
            <a:off x="457200" y="1097280"/>
            <a:ext cx="3657600" cy="2438400"/>
          </a:xfrm>
          <a:prstGeom prst="rect">
            <a:avLst/>
          </a:prstGeom>
        </p:spPr>
      </p:pic>
      <p:pic>
        <p:nvPicPr>
          <p:cNvPr id="4" name="Picture 3" descr="grid_output.png"/>
          <p:cNvPicPr>
            <a:picLocks noChangeAspect="1"/>
          </p:cNvPicPr>
          <p:nvPr/>
        </p:nvPicPr>
        <p:blipFill>
          <a:blip r:embed="rId3"/>
          <a:stretch>
            <a:fillRect/>
          </a:stretch>
        </p:blipFill>
        <p:spPr>
          <a:xfrm>
            <a:off x="4389120" y="1097280"/>
            <a:ext cx="4572000" cy="406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